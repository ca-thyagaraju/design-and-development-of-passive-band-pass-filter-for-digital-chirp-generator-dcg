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0yyhtabjV5ZOZVQjrL+kbv4PQ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7" name="Google Shape;57;p10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about:blank" TargetMode="External"/><Relationship Id="rId5" Type="http://schemas.openxmlformats.org/officeDocument/2006/relationships/hyperlink" Target="mailto:umang.bhatia@sac.isro.gov.in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/>
          <p:nvPr/>
        </p:nvSpPr>
        <p:spPr>
          <a:xfrm>
            <a:off x="0" y="675000"/>
            <a:ext cx="5377320" cy="8053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Name: CHILKUNDA ACHUTHA THYAGARAJU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Designation: SUMMER RESEARCH INTERN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Institution:</a:t>
            </a:r>
            <a:r>
              <a:rPr b="1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NATIONAL INSTITUTE OF TECHNOLOGY, ROURKELA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0" y="0"/>
            <a:ext cx="12191760" cy="67464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0" y="1491480"/>
            <a:ext cx="10611360" cy="1238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MAJOR OBJECTIVES: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611720" y="675000"/>
            <a:ext cx="1579680" cy="1490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719080"/>
            <a:ext cx="3780000" cy="413856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METHODOLOGY FLOW CHART: 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3600000" y="2719080"/>
            <a:ext cx="8591400" cy="323604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RESULTS/MAJOR FINDINGS:   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 rot="5400000">
            <a:off x="2464063" y="4627125"/>
            <a:ext cx="978031" cy="67679"/>
          </a:xfrm>
          <a:prstGeom prst="rect">
            <a:avLst/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3600000" y="5524200"/>
            <a:ext cx="8591400" cy="1333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20" y="38160"/>
            <a:ext cx="675360" cy="5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4584700" y="675000"/>
            <a:ext cx="6026660" cy="8053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Guide: </a:t>
            </a:r>
            <a:r>
              <a:rPr b="1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RITESH KUMAR SHARMA / SMT. SHIVANI BHARGAV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 e-mail: </a:t>
            </a:r>
            <a:r>
              <a:rPr b="1" i="0" lang="en-IN" sz="16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ritesh@sac.isro.gov.in/</a:t>
            </a:r>
            <a:r>
              <a:rPr b="1" i="0" lang="en-IN" sz="16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shivani@sac.isro.gov.in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816480" y="0"/>
            <a:ext cx="10411920" cy="67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10611720" y="2165760"/>
            <a:ext cx="1580400" cy="55296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5B9BD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lang="en-IN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 MAY 2025 to 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lang="en-IN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 JULY 2025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0915943" y="421272"/>
            <a:ext cx="1958406" cy="275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lang="en-IN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SRTD-RTMG-MISA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7120" y="1696554"/>
            <a:ext cx="1098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and optimize an analog band-pass filter (350-550 MHz).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 high stopband attenuation for Nyquist image suppression (e.g., 50-60 dB at 250 MHz and 650 MHz).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Maintain minimum insertion loss with good return loss performance.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a manufacturable PCB layout accounting for real-world component and parasitic effects.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5786" y="2769081"/>
            <a:ext cx="1667634" cy="112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8361" y="3751216"/>
            <a:ext cx="2427772" cy="12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3591208" y="3036070"/>
            <a:ext cx="7939800" cy="190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1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Type</a:t>
            </a: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9th-order LC Chebyshev Band-pass Filter [2 Layer PCB – 0.25mmFR4].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1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Passband: </a:t>
            </a: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350 MHz to 550 MHz.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1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Insertion Loss</a:t>
            </a: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Approx. 5.5 dB overall, with 3.8 dB at 450 MHz.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1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Stopband Rejection: </a:t>
            </a: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75 dB at 250 MHz, 56 dB at 650 MHz.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1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Loss: </a:t>
            </a: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Consistently under 16 dB in passband (target was ≥20 dB).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</a:pPr>
            <a:r>
              <a:rPr b="1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Response:</a:t>
            </a: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Linear and usable.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3627221" y="5739840"/>
            <a:ext cx="9505080" cy="11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Successfully designed and simulated a 9th-order analog band-pass filter.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Achieved excellent Nyquist image suppression (75 dB at 250 MHz, 56 dB at 650 MHz).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Demonstrated robust methodology including component optimization, PCB layout, and EM co-simulation.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Acknowledged practical trade-offs in insertion loss and return loss while meeting critical rejection targets.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3608112" y="4451512"/>
            <a:ext cx="7313040" cy="88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Findings: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 integration of real component models and PCB parasitics.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 of iterative trace width optimization and coaxial pad matching using SIPro.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Practical challenges with component footprint availability and their impact on performance.</a:t>
            </a:r>
            <a:endParaRPr b="0" sz="1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 rot="5400000">
            <a:off x="2509400" y="4520400"/>
            <a:ext cx="1387080" cy="2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lang="en-IN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PERFORMANCE NOT SATISFACTORY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1656360" y="3465602"/>
            <a:ext cx="180000" cy="542438"/>
          </a:xfrm>
          <a:custGeom>
            <a:rect b="b" l="l" r="r" t="t"/>
            <a:pathLst>
              <a:path extrusionOk="0" h="21600" w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sp>
      <p:sp>
        <p:nvSpPr>
          <p:cNvPr id="118" name="Google Shape;118;p1"/>
          <p:cNvSpPr/>
          <p:nvPr/>
        </p:nvSpPr>
        <p:spPr>
          <a:xfrm>
            <a:off x="1656360" y="4360763"/>
            <a:ext cx="180000" cy="243877"/>
          </a:xfrm>
          <a:custGeom>
            <a:rect b="b" l="l" r="r" t="t"/>
            <a:pathLst>
              <a:path extrusionOk="0" h="21600" w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sp>
      <p:sp>
        <p:nvSpPr>
          <p:cNvPr id="119" name="Google Shape;119;p1"/>
          <p:cNvSpPr/>
          <p:nvPr/>
        </p:nvSpPr>
        <p:spPr>
          <a:xfrm>
            <a:off x="1656360" y="5583601"/>
            <a:ext cx="180000" cy="409114"/>
          </a:xfrm>
          <a:custGeom>
            <a:rect b="b" l="l" r="r" t="t"/>
            <a:pathLst>
              <a:path extrusionOk="0" h="21600" w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sp>
      <p:sp>
        <p:nvSpPr>
          <p:cNvPr id="120" name="Google Shape;120;p1"/>
          <p:cNvSpPr/>
          <p:nvPr/>
        </p:nvSpPr>
        <p:spPr>
          <a:xfrm>
            <a:off x="238500" y="3155580"/>
            <a:ext cx="3145500" cy="34452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161792" y="3125880"/>
            <a:ext cx="3231000" cy="3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lang="en-IN" sz="10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 FAMILIARIZATION &amp; CIRCUIT SCHEMATIC </a:t>
            </a:r>
            <a:r>
              <a:rPr lang="en-I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lang="en-IN" sz="10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ESIGN 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 flipH="1">
            <a:off x="2346480" y="4118634"/>
            <a:ext cx="639272" cy="105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1125415" y="3996000"/>
            <a:ext cx="1221065" cy="360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980640" y="4040675"/>
            <a:ext cx="1548360" cy="41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0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DESIGN</a:t>
            </a: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439947" y="5986031"/>
            <a:ext cx="2592000" cy="44568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2578320" y="5104260"/>
            <a:ext cx="408600" cy="45719"/>
          </a:xfrm>
          <a:prstGeom prst="rect">
            <a:avLst/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6480" y="4601880"/>
            <a:ext cx="1847160" cy="1050480"/>
          </a:xfrm>
          <a:prstGeom prst="diamond">
            <a:avLst/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00" scaled="0"/>
          </a:gradFill>
          <a:ln cap="flat" cmpd="sng" w="9525">
            <a:solidFill>
              <a:srgbClr val="3E6EC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933300" y="4896472"/>
            <a:ext cx="162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lang="en-IN" sz="10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SIMULATIONS &amp; PERFORMANCE VALIDATION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467168" y="6064656"/>
            <a:ext cx="2592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0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FABRICATION &amp; HARDWARE TESTING</a:t>
            </a:r>
            <a:endParaRPr/>
          </a:p>
        </p:txBody>
      </p:sp>
      <p:sp>
        <p:nvSpPr>
          <p:cNvPr id="130" name="Google Shape;130;p1"/>
          <p:cNvSpPr/>
          <p:nvPr/>
        </p:nvSpPr>
        <p:spPr>
          <a:xfrm>
            <a:off x="371983" y="160315"/>
            <a:ext cx="113009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lang="en-I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AND DEVELOPMENT OF ANALOG BAND PASS FILTER FOR DCG (DIGITAL CHIRP GENERATOR</a:t>
            </a:r>
            <a:r>
              <a:rPr lang="en-I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" title="Passport Size Photo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32382" y="687937"/>
            <a:ext cx="1139080" cy="14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2017-11-15T06:25:27Z</dcterms:created>
  <dc:creator>Training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